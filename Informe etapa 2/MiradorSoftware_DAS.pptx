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921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1E5FA8">
              <a:alpha val="25000"/>
            </a:srgbClr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MiradorSoftware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Arquitectura de Software (DAS)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2004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Benjamin Campos, Fabian Cid, Fernando Chamorro.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Solución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 "El Mirador" — situación actual vs. propuesta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0690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069080" cy="38404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PROBLEMAS ACTUALES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Gestión 100% manual de pagos y cobros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Alta morosidad sin seguimiento automático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Falta de transparencia financiera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Canales de comunicación deficientes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Retrasos administrativos costosos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463040"/>
            <a:ext cx="40690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40690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4800600" y="14630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SOLUCIÓN PROPUESTA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Automatización de cobros y pagos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Monitoreo de morosidad en tiempo real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Transparencia financiera total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Comunicación directa residentes–admin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Reportes financieros automáticos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20540" y="28437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CICLO DE VIDA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del Ciclo de Vida del Software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aplicada al desarrollo de MiradorSoftware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66420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16642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228600" y="14173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" y="1938528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Análisis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RF/RNF. Identificación de actores y casos de uso. Definición del alcance del sistema.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93392" y="1417320"/>
            <a:ext cx="166420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2" name="Shape 10"/>
          <p:cNvSpPr/>
          <p:nvPr/>
        </p:nvSpPr>
        <p:spPr>
          <a:xfrm>
            <a:off x="1993392" y="1417320"/>
            <a:ext cx="166420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1993392" y="14173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66544" y="1938528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Diseño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84832" y="2286000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microservicios. Modelo 4+1. Patrones MVC, Repository, Observer y API Gateway.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58184" y="1417320"/>
            <a:ext cx="166420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7" name="Shape 15"/>
          <p:cNvSpPr/>
          <p:nvPr/>
        </p:nvSpPr>
        <p:spPr>
          <a:xfrm>
            <a:off x="3758184" y="1417320"/>
            <a:ext cx="16642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3758184" y="14173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31336" y="1938528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Desarrollo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9624" y="2286000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React.js. Backend Node.js con microservicios. BD PostgreSQL por servicio.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22976" y="1417320"/>
            <a:ext cx="166420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Shape 20"/>
          <p:cNvSpPr/>
          <p:nvPr/>
        </p:nvSpPr>
        <p:spPr>
          <a:xfrm>
            <a:off x="5522976" y="1417320"/>
            <a:ext cx="1664208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5522976" y="14173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96128" y="1938528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Pruebas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14416" y="2286000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RNF: respuesta &lt;2s, uptime 99.5%, seguridad bcrypt. Pruebas de integración.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87768" y="1417320"/>
            <a:ext cx="166420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7" name="Shape 25"/>
          <p:cNvSpPr/>
          <p:nvPr/>
        </p:nvSpPr>
        <p:spPr>
          <a:xfrm>
            <a:off x="7287768" y="1417320"/>
            <a:ext cx="1664208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7287768" y="14173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⑤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360920" y="1938528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Despliegue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79208" y="2286000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cloud. Nginx como proxy inverso. Integración con Webpay / SendGrid.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ARQUITECTURA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adoptado: Microservicios + Patrones de Diseño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FA8"/>
                </a:solidFill>
              </a:rPr>
              <a:t>Microservicios Distribuidos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Cada módulo opera de forma independiente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Comunicación vía APIs RESTful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Despliegue autónomo por servicio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Falla aislada: un servicio caído no derrumba el sistema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3611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</a:rPr>
              <a:t>Patrones Aplicados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977640"/>
            <a:ext cx="1170432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365760" y="397764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MVC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45920" y="3977640"/>
            <a:ext cx="1170432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1645920" y="397764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Repository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0" y="3977640"/>
            <a:ext cx="1170432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2926080" y="397764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325112"/>
            <a:ext cx="1170432" cy="256032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365760" y="432511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API Gateway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45920" y="4325112"/>
            <a:ext cx="1170432" cy="256032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1645920" y="432511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Singleton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251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475488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</a:rPr>
              <a:t>Microservicios del Sistema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1828800"/>
            <a:ext cx="2286000" cy="2926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5577840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 (React.js)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2240280"/>
            <a:ext cx="3200400" cy="25603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5120640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 Gateway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2633472"/>
            <a:ext cx="157276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4846320" y="26334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Servicio Usuarios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583680" y="2633472"/>
            <a:ext cx="1572768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7"/>
          <p:cNvSpPr/>
          <p:nvPr/>
        </p:nvSpPr>
        <p:spPr>
          <a:xfrm>
            <a:off x="6583680" y="26334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Servicio Pagos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46320" y="3017520"/>
            <a:ext cx="157276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Text 29"/>
          <p:cNvSpPr/>
          <p:nvPr/>
        </p:nvSpPr>
        <p:spPr>
          <a:xfrm>
            <a:off x="4846320" y="30175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Servicio Morosidad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83680" y="3017520"/>
            <a:ext cx="157276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3" name="Text 31"/>
          <p:cNvSpPr/>
          <p:nvPr/>
        </p:nvSpPr>
        <p:spPr>
          <a:xfrm>
            <a:off x="6583680" y="30175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Servicio Notificaciones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46320" y="3401568"/>
            <a:ext cx="157276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4846320" y="340156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Servicio Reportes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583680" y="3401568"/>
            <a:ext cx="1572768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6583680" y="340156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Servicio Reclamos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486400" y="4498848"/>
            <a:ext cx="2468880" cy="2560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9" name="Text 37"/>
          <p:cNvSpPr/>
          <p:nvPr/>
        </p:nvSpPr>
        <p:spPr>
          <a:xfrm>
            <a:off x="5486400" y="4498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PostgreSQL (BD por servicio)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4+1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66751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</a:rPr>
              <a:t>Representación arquitectónica desde 5 perspectivas complementarias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88920" cy="187452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8892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228600" y="1051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👁  Vista de Escenario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4356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3C5FD"/>
                </a:solidFill>
              </a:rPr>
              <a:t>Casos de Uso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conductor del modelo. Define actores y sus interacciones con el sistema.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88920" cy="187452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88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3200400" y="1051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🧩  Vista Lógica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14356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3C5FD"/>
                </a:solidFill>
              </a:rPr>
              <a:t>Diagrama de Clases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91840" y="16916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estática: clases, atributos, relaciones y herencia entre objetos.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2788920" cy="187452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Shape 13"/>
          <p:cNvSpPr/>
          <p:nvPr/>
        </p:nvSpPr>
        <p:spPr>
          <a:xfrm>
            <a:off x="6172200" y="1051560"/>
            <a:ext cx="2788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172200" y="10515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📦  Vista de Desarrollo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63640" y="143560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3C5FD"/>
                </a:solidFill>
              </a:rPr>
              <a:t>Componentes y Paquetes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código: microservicios, paquetes y módulos del sistema.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31920" y="3063240"/>
            <a:ext cx="1280160" cy="1280160"/>
          </a:xfrm>
          <a:prstGeom prst="ellipse">
            <a:avLst/>
          </a:prstGeom>
          <a:solidFill>
            <a:srgbClr val="FFFFFF">
              <a:alpha val="80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3931920" y="3063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4+1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228600" y="3017520"/>
            <a:ext cx="2788920" cy="1828800"/>
          </a:xfrm>
          <a:prstGeom prst="rect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Shape 20"/>
          <p:cNvSpPr/>
          <p:nvPr/>
        </p:nvSpPr>
        <p:spPr>
          <a:xfrm>
            <a:off x="228600" y="3017520"/>
            <a:ext cx="278892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228600" y="301752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⚙️  Vista de Procesos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34015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3C5FD"/>
                </a:solidFill>
              </a:rPr>
              <a:t>Diagrama de Actividad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" y="36576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dinámicos: swimlanes, concurrencia y validaciones en tiempo real.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3063240"/>
            <a:ext cx="2788920" cy="1828800"/>
          </a:xfrm>
          <a:prstGeom prst="rect">
            <a:avLst/>
          </a:prstGeom>
          <a:solidFill>
            <a:srgbClr val="DC2626">
              <a:alpha val="7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Shape 25"/>
          <p:cNvSpPr/>
          <p:nvPr/>
        </p:nvSpPr>
        <p:spPr>
          <a:xfrm>
            <a:off x="6172200" y="3074343"/>
            <a:ext cx="2788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6172200" y="30678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🖥  Vista Física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63640" y="34747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3C5FD"/>
                </a:solidFill>
              </a:rPr>
              <a:t>Diagrama de Despliegue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63640" y="3694176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Infraestructura: nodos, protocolos, servidores y servicios externos.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VISTA DE ESCENARIO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Escenario — Casos de Uso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e interacciones principales del sistema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5603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560320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ACTORES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5FA8"/>
                </a:solidFill>
              </a:rPr>
              <a:t>Administrador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Control total: residentes, pagos, morosidad, informes.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5FA8"/>
                </a:solidFill>
              </a:rPr>
              <a:t>Propietario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Consulta historial, registra pagos, envía reclamos.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5FA8"/>
                </a:solidFill>
              </a:rPr>
              <a:t>Arrendatario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Acceso con código especial para pagar y consultar deuda.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1417320"/>
            <a:ext cx="56692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9" name="Shape 17"/>
          <p:cNvSpPr/>
          <p:nvPr/>
        </p:nvSpPr>
        <p:spPr>
          <a:xfrm>
            <a:off x="3200400" y="1417320"/>
            <a:ext cx="56692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3200400" y="14173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CASOS DE USO PRINCIPALES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1901952"/>
            <a:ext cx="260604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3392424" y="19293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</a:rPr>
              <a:t>CU-001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257800" y="1938528"/>
            <a:ext cx="594360" cy="173736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5257800" y="1938528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Admin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392424" y="2103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Gestionar información de residentes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80760" y="1901952"/>
            <a:ext cx="26060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6135624" y="19293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</a:rPr>
              <a:t>CU-002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001000" y="1938528"/>
            <a:ext cx="594360" cy="173736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7"/>
          <p:cNvSpPr/>
          <p:nvPr/>
        </p:nvSpPr>
        <p:spPr>
          <a:xfrm>
            <a:off x="8001000" y="1938528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Admin/Prop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135624" y="2103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Registrar y controlar pagos de gastos comunes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37560" y="2468880"/>
            <a:ext cx="260604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3392424" y="24963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</a:rPr>
              <a:t>CU-003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257800" y="2505456"/>
            <a:ext cx="594360" cy="173736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Text 32"/>
          <p:cNvSpPr/>
          <p:nvPr/>
        </p:nvSpPr>
        <p:spPr>
          <a:xfrm>
            <a:off x="5257800" y="2505456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Prop/Arr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392424" y="26700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Subir comprobante de pago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80760" y="2468880"/>
            <a:ext cx="26060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6135624" y="24963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</a:rPr>
              <a:t>CU-004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001000" y="2505456"/>
            <a:ext cx="594360" cy="173736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9" name="Text 37"/>
          <p:cNvSpPr/>
          <p:nvPr/>
        </p:nvSpPr>
        <p:spPr>
          <a:xfrm>
            <a:off x="8001000" y="2505456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Admin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135624" y="26700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Calcular gastos comunes mensuales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37560" y="3035808"/>
            <a:ext cx="260604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2" name="Text 40"/>
          <p:cNvSpPr/>
          <p:nvPr/>
        </p:nvSpPr>
        <p:spPr>
          <a:xfrm>
            <a:off x="3392424" y="3063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</a:rPr>
              <a:t>CU-005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257800" y="3072384"/>
            <a:ext cx="594360" cy="173736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4" name="Text 42"/>
          <p:cNvSpPr/>
          <p:nvPr/>
        </p:nvSpPr>
        <p:spPr>
          <a:xfrm>
            <a:off x="5257800" y="3072384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Admin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392424" y="32369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Controlar morosidad e identificar deudores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080760" y="3035808"/>
            <a:ext cx="26060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7" name="Text 45"/>
          <p:cNvSpPr/>
          <p:nvPr/>
        </p:nvSpPr>
        <p:spPr>
          <a:xfrm>
            <a:off x="6135624" y="30632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</a:rPr>
              <a:t>CU-006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001000" y="3072384"/>
            <a:ext cx="594360" cy="173736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9" name="Text 47"/>
          <p:cNvSpPr/>
          <p:nvPr/>
        </p:nvSpPr>
        <p:spPr>
          <a:xfrm>
            <a:off x="8001000" y="3072384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Sistema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135624" y="32369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Enviar notificaciones y recordatorios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337560" y="3602736"/>
            <a:ext cx="260604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2" name="Text 50"/>
          <p:cNvSpPr/>
          <p:nvPr/>
        </p:nvSpPr>
        <p:spPr>
          <a:xfrm>
            <a:off x="3392424" y="3630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</a:rPr>
              <a:t>CU-007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57800" y="3639312"/>
            <a:ext cx="594360" cy="173736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4" name="Text 52"/>
          <p:cNvSpPr/>
          <p:nvPr/>
        </p:nvSpPr>
        <p:spPr>
          <a:xfrm>
            <a:off x="5257800" y="3639312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Admin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392424" y="3803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Generar informes financieros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080760" y="3602736"/>
            <a:ext cx="26060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7" name="Text 55"/>
          <p:cNvSpPr/>
          <p:nvPr/>
        </p:nvSpPr>
        <p:spPr>
          <a:xfrm>
            <a:off x="6135624" y="36301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</a:rPr>
              <a:t>CU-008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001000" y="3639312"/>
            <a:ext cx="594360" cy="173736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9" name="Text 57"/>
          <p:cNvSpPr/>
          <p:nvPr/>
        </p:nvSpPr>
        <p:spPr>
          <a:xfrm>
            <a:off x="8001000" y="3639312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Prop/Arr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6135624" y="38039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Enviar solicitudes y reclamos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337560" y="4169664"/>
            <a:ext cx="260604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2" name="Text 60"/>
          <p:cNvSpPr/>
          <p:nvPr/>
        </p:nvSpPr>
        <p:spPr>
          <a:xfrm>
            <a:off x="3392424" y="41970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</a:rPr>
              <a:t>CU-009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257800" y="4206240"/>
            <a:ext cx="594360" cy="173736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4" name="Text 62"/>
          <p:cNvSpPr/>
          <p:nvPr/>
        </p:nvSpPr>
        <p:spPr>
          <a:xfrm>
            <a:off x="5257800" y="420624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Prop/Arr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392424" y="4370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Consultar historial de pagos y deudas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080760" y="4169664"/>
            <a:ext cx="260604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7" name="Text 65"/>
          <p:cNvSpPr/>
          <p:nvPr/>
        </p:nvSpPr>
        <p:spPr>
          <a:xfrm>
            <a:off x="6135624" y="41970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</a:rPr>
              <a:t>CU-010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8001000" y="4206240"/>
            <a:ext cx="594360" cy="173736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9" name="Text 67"/>
          <p:cNvSpPr/>
          <p:nvPr/>
        </p:nvSpPr>
        <p:spPr>
          <a:xfrm>
            <a:off x="8001000" y="420624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Todos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6135624" y="4370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Acceso diferenciado según tipo de usuario</a:t>
            </a:r>
            <a:endParaRPr lang="en-US" sz="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FC3B1D-E158-52E8-6388-FACDA995A2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3" b="3195"/>
          <a:stretch>
            <a:fillRect/>
          </a:stretch>
        </p:blipFill>
        <p:spPr bwMode="auto">
          <a:xfrm>
            <a:off x="6681651" y="95210"/>
            <a:ext cx="2188029" cy="125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VISTA LÓGICA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Lógica — Diagrama de Clases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estática: clases, atributos, relaciones y herencia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1965960" cy="2743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22860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«class» Usuario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1645920"/>
            <a:ext cx="1965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301752" y="169164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idUsuario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01752" y="189280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nombre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01752" y="2093976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email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1752" y="2295144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contraseña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01752" y="249631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tipoUsuario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28600" y="2743200"/>
            <a:ext cx="19659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01752" y="278892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9488"/>
                </a:solidFill>
              </a:rPr>
              <a:t>+ login()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28600" y="3383280"/>
            <a:ext cx="196596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228600" y="3383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«class» Administrador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3657600"/>
            <a:ext cx="1965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301752" y="370332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nivelAcceso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28600" y="3950208"/>
            <a:ext cx="19659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301752" y="399592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9488"/>
                </a:solidFill>
              </a:rPr>
              <a:t>+ generarInforme()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331720" y="3383280"/>
            <a:ext cx="196596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2331720" y="3383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«class» Residente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331720" y="3657600"/>
            <a:ext cx="1965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2404872" y="370332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tipo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404872" y="390448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codigoAcceso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331720" y="4151376"/>
            <a:ext cx="19659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2404872" y="4197096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9488"/>
                </a:solidFill>
              </a:rPr>
              <a:t>+ consultarDeuda()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434840" y="3383280"/>
            <a:ext cx="19659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4434840" y="3383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«class» Departamento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34840" y="3657600"/>
            <a:ext cx="1965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4507992" y="370332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numero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07992" y="390448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piso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434840" y="4151376"/>
            <a:ext cx="196596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4507992" y="4197096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(sin métodos propios)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434840" y="1371600"/>
            <a:ext cx="1965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Text 35"/>
          <p:cNvSpPr/>
          <p:nvPr/>
        </p:nvSpPr>
        <p:spPr>
          <a:xfrm>
            <a:off x="443484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«class» Pago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434840" y="1645920"/>
            <a:ext cx="19659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9" name="Text 37"/>
          <p:cNvSpPr/>
          <p:nvPr/>
        </p:nvSpPr>
        <p:spPr>
          <a:xfrm>
            <a:off x="4507992" y="169164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monto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07992" y="189280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fecha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07992" y="2093976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estado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507992" y="2295144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comprobante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434840" y="2542032"/>
            <a:ext cx="19659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4" name="Text 42"/>
          <p:cNvSpPr/>
          <p:nvPr/>
        </p:nvSpPr>
        <p:spPr>
          <a:xfrm>
            <a:off x="4507992" y="25877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9488"/>
                </a:solidFill>
              </a:rPr>
              <a:t>+ verificarPago()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537960" y="1371600"/>
            <a:ext cx="196596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6" name="Text 44"/>
          <p:cNvSpPr/>
          <p:nvPr/>
        </p:nvSpPr>
        <p:spPr>
          <a:xfrm>
            <a:off x="653796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«class» GastoComun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537960" y="1645920"/>
            <a:ext cx="19659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8" name="Text 46"/>
          <p:cNvSpPr/>
          <p:nvPr/>
        </p:nvSpPr>
        <p:spPr>
          <a:xfrm>
            <a:off x="6611112" y="169164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descripcion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611112" y="189280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monto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611112" y="2093976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mes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537960" y="2340864"/>
            <a:ext cx="19659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2" name="Text 50"/>
          <p:cNvSpPr/>
          <p:nvPr/>
        </p:nvSpPr>
        <p:spPr>
          <a:xfrm>
            <a:off x="6611112" y="2386584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9488"/>
                </a:solidFill>
              </a:rPr>
              <a:t>+ calcularTotal()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537960" y="3383280"/>
            <a:ext cx="19659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4" name="Text 52"/>
          <p:cNvSpPr/>
          <p:nvPr/>
        </p:nvSpPr>
        <p:spPr>
          <a:xfrm>
            <a:off x="6537960" y="3383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«class» Notificacion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537960" y="3657600"/>
            <a:ext cx="19659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6" name="Text 54"/>
          <p:cNvSpPr/>
          <p:nvPr/>
        </p:nvSpPr>
        <p:spPr>
          <a:xfrm>
            <a:off x="6611112" y="370332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tipo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611112" y="390448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mensaje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611112" y="4105656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− fecha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537960" y="4352544"/>
            <a:ext cx="196596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0" name="Text 58"/>
          <p:cNvSpPr/>
          <p:nvPr/>
        </p:nvSpPr>
        <p:spPr>
          <a:xfrm>
            <a:off x="6611112" y="4398264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9488"/>
                </a:solidFill>
              </a:rPr>
              <a:t>+ enviar()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207008" y="2240280"/>
            <a:ext cx="0" cy="1143000"/>
          </a:xfrm>
          <a:prstGeom prst="line">
            <a:avLst/>
          </a:prstGeom>
          <a:noFill/>
          <a:ln w="12700">
            <a:solidFill>
              <a:srgbClr val="1E5FA8"/>
            </a:solidFill>
            <a:prstDash val="dash"/>
          </a:ln>
        </p:spPr>
        <p:txBody>
          <a:bodyPr/>
          <a:lstStyle/>
          <a:p>
            <a:endParaRPr lang="es-419"/>
          </a:p>
        </p:txBody>
      </p:sp>
      <p:sp>
        <p:nvSpPr>
          <p:cNvPr id="62" name="Text 60"/>
          <p:cNvSpPr/>
          <p:nvPr/>
        </p:nvSpPr>
        <p:spPr>
          <a:xfrm>
            <a:off x="1234440" y="25603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</a:rPr>
              <a:t>hereda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1207008" y="2240280"/>
            <a:ext cx="1691640" cy="0"/>
          </a:xfrm>
          <a:prstGeom prst="line">
            <a:avLst/>
          </a:prstGeom>
          <a:noFill/>
          <a:ln w="12700">
            <a:solidFill>
              <a:srgbClr val="1E5FA8"/>
            </a:solidFill>
            <a:prstDash val="dash"/>
          </a:ln>
        </p:spPr>
        <p:txBody>
          <a:bodyPr/>
          <a:lstStyle/>
          <a:p>
            <a:endParaRPr lang="es-419"/>
          </a:p>
        </p:txBody>
      </p:sp>
      <p:sp>
        <p:nvSpPr>
          <p:cNvPr id="64" name="Shape 62"/>
          <p:cNvSpPr/>
          <p:nvPr/>
        </p:nvSpPr>
        <p:spPr>
          <a:xfrm>
            <a:off x="2898648" y="2240280"/>
            <a:ext cx="0" cy="1143000"/>
          </a:xfrm>
          <a:prstGeom prst="line">
            <a:avLst/>
          </a:prstGeom>
          <a:noFill/>
          <a:ln w="12700">
            <a:solidFill>
              <a:srgbClr val="1E5FA8"/>
            </a:solidFill>
            <a:prstDash val="dash"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VISTA DE DESARROLLO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Desarrollo — Componentes y Paquetes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código y responsabilidades de cada módulo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DIAGRAMA DE PAQUETES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13716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19019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«package» Presentación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28800" y="19568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Views, Components, Routes, Assets. Frontend React.js.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51560" y="2286000"/>
            <a:ext cx="0" cy="18288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1097280" y="2304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</a:rPr>
              <a:t>↓ depende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13716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«package» Controladores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828800" y="25237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UsuarioController, PagoController, ReclamoController, NotificacionController.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51560" y="2852928"/>
            <a:ext cx="0" cy="18288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1097280" y="28712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</a:rPr>
              <a:t>↓ depende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65760" y="3035808"/>
            <a:ext cx="13716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365760" y="3035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«package» Servicios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28800" y="3090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Lógica de negocio: PagoService, MorosidadService, InformeService.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51560" y="3419856"/>
            <a:ext cx="0" cy="18288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1097280" y="34381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</a:rPr>
              <a:t>↓ depende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65760" y="3602736"/>
            <a:ext cx="13716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Text 23"/>
          <p:cNvSpPr/>
          <p:nvPr/>
        </p:nvSpPr>
        <p:spPr>
          <a:xfrm>
            <a:off x="365760" y="36027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«package» Modelos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828800" y="36576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Entidades del dominio: Usuario, Pago, Reclamo, GastoComun.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51560" y="3986784"/>
            <a:ext cx="0" cy="18288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1097280" y="40050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4748B"/>
                </a:solidFill>
              </a:rPr>
              <a:t>↓ depende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365760" y="4169664"/>
            <a:ext cx="13716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365760" y="41696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«package» Repositorios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28800" y="42245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Abstracción BD: PagoRepository, UsuarioRepository → PostgreSQL.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1417320"/>
            <a:ext cx="42062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3" name="Shape 31"/>
          <p:cNvSpPr/>
          <p:nvPr/>
        </p:nvSpPr>
        <p:spPr>
          <a:xfrm>
            <a:off x="4663440" y="1417320"/>
            <a:ext cx="4206240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Text 32"/>
          <p:cNvSpPr/>
          <p:nvPr/>
        </p:nvSpPr>
        <p:spPr>
          <a:xfrm>
            <a:off x="4663440" y="1417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DIAGRAMA DE COMPONENTES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1883664"/>
            <a:ext cx="4023360" cy="40233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6" name="Text 34"/>
          <p:cNvSpPr/>
          <p:nvPr/>
        </p:nvSpPr>
        <p:spPr>
          <a:xfrm>
            <a:off x="4754880" y="18836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«component» Panel Admin (Frontend)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1883664"/>
            <a:ext cx="4023360" cy="402336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Text 36"/>
          <p:cNvSpPr/>
          <p:nvPr/>
        </p:nvSpPr>
        <p:spPr>
          <a:xfrm>
            <a:off x="4754880" y="18836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«component» Portal Residente (Frontend)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2432304"/>
            <a:ext cx="4023360" cy="40233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0" name="Text 38"/>
          <p:cNvSpPr/>
          <p:nvPr/>
        </p:nvSpPr>
        <p:spPr>
          <a:xfrm>
            <a:off x="4754880" y="24323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«component» API Gateway / Router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3529584"/>
            <a:ext cx="1920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2" name="Text 40"/>
          <p:cNvSpPr/>
          <p:nvPr/>
        </p:nvSpPr>
        <p:spPr>
          <a:xfrm>
            <a:off x="4754880" y="35295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Svc. Usuarios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812280" y="3529584"/>
            <a:ext cx="192024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4" name="Text 42"/>
          <p:cNvSpPr/>
          <p:nvPr/>
        </p:nvSpPr>
        <p:spPr>
          <a:xfrm>
            <a:off x="6812280" y="35295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Svc. Pagos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54880" y="3950208"/>
            <a:ext cx="192024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6" name="Text 44"/>
          <p:cNvSpPr/>
          <p:nvPr/>
        </p:nvSpPr>
        <p:spPr>
          <a:xfrm>
            <a:off x="4754880" y="3950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Svc. Morosidad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812280" y="3950208"/>
            <a:ext cx="19202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8" name="Text 46"/>
          <p:cNvSpPr/>
          <p:nvPr/>
        </p:nvSpPr>
        <p:spPr>
          <a:xfrm>
            <a:off x="6812280" y="3950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Svc. Notificaciones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54880" y="4370832"/>
            <a:ext cx="19202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0" name="Text 48"/>
          <p:cNvSpPr/>
          <p:nvPr/>
        </p:nvSpPr>
        <p:spPr>
          <a:xfrm>
            <a:off x="4754880" y="43708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Svc. Reportes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812280" y="4370832"/>
            <a:ext cx="1920240" cy="32918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2" name="Text 50"/>
          <p:cNvSpPr/>
          <p:nvPr/>
        </p:nvSpPr>
        <p:spPr>
          <a:xfrm>
            <a:off x="6812280" y="43708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PostgreSQL (×3 BD)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VISTA DE PROCESOS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Procesos — Diagrama de Actividad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Registrar Pago de Gasto Común (Swimlane)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06240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RESIDENTE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SISTEMA / ADMINISTRADOR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0" cy="3657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502920" y="195681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5FA8"/>
                </a:solidFill>
              </a:rPr>
              <a:t>① Inicia sesión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5FA8"/>
                </a:solidFill>
              </a:rPr>
              <a:t>con credenciales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2468880"/>
            <a:ext cx="0" cy="228600"/>
          </a:xfrm>
          <a:prstGeom prst="line">
            <a:avLst/>
          </a:prstGeom>
          <a:noFill/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2286000" y="24688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FA8"/>
                </a:solidFill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502920" y="264261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5FA8"/>
                </a:solidFill>
              </a:rPr>
              <a:t>② Selecciona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5FA8"/>
                </a:solidFill>
              </a:rPr>
              <a:t>"Registrar Pago"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23160" y="3154680"/>
            <a:ext cx="0" cy="228600"/>
          </a:xfrm>
          <a:prstGeom prst="line">
            <a:avLst/>
          </a:prstGeom>
          <a:noFill/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2286000" y="3154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FA8"/>
                </a:solidFill>
              </a:rPr>
              <a:t>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502920" y="332841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5FA8"/>
                </a:solidFill>
              </a:rPr>
              <a:t>④ Ingresa datos del pago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5FA8"/>
                </a:solidFill>
              </a:rPr>
              <a:t>y adjunta comprobante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23160" y="3840480"/>
            <a:ext cx="0" cy="228600"/>
          </a:xfrm>
          <a:prstGeom prst="line">
            <a:avLst/>
          </a:prstGeom>
          <a:noFill/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2286000" y="3840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FA8"/>
                </a:solidFill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502920" y="401421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⑤ (alt) Corrige datos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si hay error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19202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4800600" y="19568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③ Muestra formulario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con monto calculado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66560" y="2468880"/>
            <a:ext cx="0" cy="22860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Shape 26"/>
          <p:cNvSpPr/>
          <p:nvPr/>
        </p:nvSpPr>
        <p:spPr>
          <a:xfrm>
            <a:off x="4754880" y="26060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9" name="Text 27"/>
          <p:cNvSpPr/>
          <p:nvPr/>
        </p:nvSpPr>
        <p:spPr>
          <a:xfrm>
            <a:off x="4800600" y="26426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⑤ Valida datos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y formato adjunto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66560" y="3154680"/>
            <a:ext cx="0" cy="22860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1" name="Shape 29"/>
          <p:cNvSpPr/>
          <p:nvPr/>
        </p:nvSpPr>
        <p:spPr>
          <a:xfrm>
            <a:off x="4754880" y="32918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4800600" y="3328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⑥ Registra pago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estado: Pendiente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66560" y="3840480"/>
            <a:ext cx="0" cy="22860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4" name="Shape 32"/>
          <p:cNvSpPr/>
          <p:nvPr/>
        </p:nvSpPr>
        <p:spPr>
          <a:xfrm>
            <a:off x="4754880" y="39776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4800600" y="40142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⑦ Notifica residente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</a:rPr>
              <a:t>y administrador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766560" y="4526280"/>
            <a:ext cx="0" cy="22860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7" name="Shape 35"/>
          <p:cNvSpPr/>
          <p:nvPr/>
        </p:nvSpPr>
        <p:spPr>
          <a:xfrm>
            <a:off x="4754880" y="45720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8" name="Text 36"/>
          <p:cNvSpPr/>
          <p:nvPr/>
        </p:nvSpPr>
        <p:spPr>
          <a:xfrm>
            <a:off x="4800600" y="46085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</a:rPr>
              <a:t>⑧ Admin verifica: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</a:rPr>
              <a:t>Verificado / Rechazado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VISTA FÍSICA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Física — Diagrama de Despliegue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Infraestructura: nodos, protocolos y servicios externos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560320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💻  Dispositivo Cliente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tablet / smartphone. Navegador o PWA.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560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3200400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🔒  Nginx (Proxy)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inverso. Termina SSL/TLS. Balanceador de carga.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517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126480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⚙️  App Server (Node.js)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Microservicios: Pagos, Notif., Reportes, Usuarios.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2560320" cy="34747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274320" y="3383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🗄  PostgreSQL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7947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Usuarios · BD Pagos · BD Reclamos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3832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3" name="Shape 21"/>
          <p:cNvSpPr/>
          <p:nvPr/>
        </p:nvSpPr>
        <p:spPr>
          <a:xfrm>
            <a:off x="3200400" y="3383280"/>
            <a:ext cx="25603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3200400" y="3383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📧  SendGrid (externo)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37947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correos vía HTTPS API REST.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3832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7" name="Shape 25"/>
          <p:cNvSpPr/>
          <p:nvPr/>
        </p:nvSpPr>
        <p:spPr>
          <a:xfrm>
            <a:off x="6126480" y="3383280"/>
            <a:ext cx="26517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6126480" y="3383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🗂  Almacenamiento S3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3794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Comprobantes e informes en PDF.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TCP :5432 ↓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83280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HTTPS API ↓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00800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</a:rPr>
              <a:t>HTTP/S3 ↓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201168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CALIDAD DEL SOFTWARE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Calidad — ISO/IEC 25010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calidad aplicados en el diseño de MiradorSoftware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88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7889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🔐  Seguridad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(RNF-1)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encriptadas con bcrypt. JWT en API Gateway. Acceso basado en roles.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788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78892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3200400" y="14630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📶  Disponibilidad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(RNF-2)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mínimo 99.5%. Infraestructura cloud. Microservicios resilientes.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788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78892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126480" y="14630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⚡  Rendimiento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(RNF-3)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&lt; 2s en consultas de cartolas y pantallas principales.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2788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2788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274320" y="3200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📈  Escalabilidad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(RNF-4)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6118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soporta nuevas torres o condominios sin rediseño.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3200400"/>
            <a:ext cx="2788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3" name="Shape 21"/>
          <p:cNvSpPr/>
          <p:nvPr/>
        </p:nvSpPr>
        <p:spPr>
          <a:xfrm>
            <a:off x="3200400" y="3200400"/>
            <a:ext cx="2788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3200400" y="3200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📱  Usabilidad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(RNF-5)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36118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Responsive. Compatible WCAG 2.1 Nivel AA para accesibilidad.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3200400"/>
            <a:ext cx="2788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7" name="Shape 25"/>
          <p:cNvSpPr/>
          <p:nvPr/>
        </p:nvSpPr>
        <p:spPr>
          <a:xfrm>
            <a:off x="6126480" y="3200400"/>
            <a:ext cx="2788920" cy="34747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6126480" y="32004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🔧  Mantenibilidad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36118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modular por microservicio. Patrones Repository y MVC facilitan cambios.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1E5FA8">
              <a:alpha val="20000"/>
            </a:srgbClr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</a:rPr>
              <a:t>MiradorSoftware — síntesis del proyecto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72184"/>
            <a:ext cx="347472" cy="347472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365760" y="1472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MiradorSoftware digitaliza y automatiza el 100% de la gestión del edificio, eliminando procesos manuales.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347472" cy="347472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17627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de microservicios garantiza resiliencia, escalabilidad y fácil mantenimiento futuro.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347472" cy="347472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6576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8803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4+1 permitió documentar el sistema desde 5 perspectivas complementarias y coherentes.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84448"/>
            <a:ext cx="347472" cy="347472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36576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58444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atributos ISO/IEC 25010 integrados desde el diseño aseguran calidad real, no solo funcionalidad.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288536"/>
            <a:ext cx="347472" cy="347472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365760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2885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reduce morosidad, aumenta transparencia y reconstruye la confianza en la comunidad.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1188</Words>
  <Application>Microsoft Office PowerPoint</Application>
  <PresentationFormat>Presentación en pantalla (16:9)</PresentationFormat>
  <Paragraphs>278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MiradorSoftware - DAS</dc:title>
  <dc:subject>PptxGenJS Presentation</dc:subject>
  <dc:creator>PptxGenJS</dc:creator>
  <cp:lastModifiedBy>BENJAMIN ANDRES CAMPOS AGUAYO</cp:lastModifiedBy>
  <cp:revision>4</cp:revision>
  <dcterms:created xsi:type="dcterms:W3CDTF">2026-05-18T20:51:00Z</dcterms:created>
  <dcterms:modified xsi:type="dcterms:W3CDTF">2026-05-18T22:22:17Z</dcterms:modified>
</cp:coreProperties>
</file>